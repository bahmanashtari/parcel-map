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28600"/>
            <a:ext cx="11612880" cy="6400800"/>
          </a:xfrm>
          <a:prstGeom prst="rect">
            <a:avLst/>
          </a:prstGeom>
          <a:solidFill>
            <a:srgbClr val="F7F8FC"/>
          </a:solidFill>
          <a:ln w="12700">
            <a:solidFill>
              <a:srgbClr val="F7F8FC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F8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F8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078992"/>
            <a:ext cx="5120640" cy="4956048"/>
          </a:xfrm>
          <a:prstGeom prst="roundRect">
            <a:avLst>
              <a:gd name="adj" fmla="val 2214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1426464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</a:rPr>
              <a:t>parcel-map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49808" y="201168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828"/>
                </a:solidFill>
              </a:rPr>
              <a:t>AI tools and integrations</a:t>
            </a:r>
            <a:endParaRPr lang="en-US" sz="2300" dirty="0"/>
          </a:p>
          <a:p>
            <a:pPr indent="0" marL="0">
              <a:buNone/>
            </a:pPr>
            <a:r>
              <a:rPr lang="en-US" sz="2300" b="1" dirty="0">
                <a:solidFill>
                  <a:srgbClr val="101828"/>
                </a:solidFill>
              </a:rPr>
              <a:t>current state overview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749808" y="3017520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</a:rPr>
              <a:t>A visual map of what is already built, how data moves, and where the AI lane sits inside the larger GIS platform.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49808" y="3950208"/>
            <a:ext cx="1645920" cy="256032"/>
          </a:xfrm>
          <a:prstGeom prst="roundRect">
            <a:avLst>
              <a:gd name="adj" fmla="val 42857"/>
            </a:avLst>
          </a:prstGeom>
          <a:solidFill>
            <a:srgbClr val="DCF7E6"/>
          </a:solidFill>
          <a:ln w="12700">
            <a:solidFill>
              <a:srgbClr val="DCF7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000500"/>
            <a:ext cx="1499616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9D55"/>
                </a:solidFill>
              </a:rPr>
              <a:t>Built now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487168" y="3950208"/>
            <a:ext cx="1783080" cy="256032"/>
          </a:xfrm>
          <a:prstGeom prst="roundRect">
            <a:avLst>
              <a:gd name="adj" fmla="val 42857"/>
            </a:avLst>
          </a:prstGeom>
          <a:solidFill>
            <a:srgbClr val="FFF1D6"/>
          </a:solidFill>
          <a:ln w="12700">
            <a:solidFill>
              <a:srgbClr val="FFF1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0" y="4000500"/>
            <a:ext cx="1636776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</a:rPr>
              <a:t>Next AI step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61688" y="3950208"/>
            <a:ext cx="822960" cy="256032"/>
          </a:xfrm>
          <a:prstGeom prst="roundRect">
            <a:avLst>
              <a:gd name="adj" fmla="val 42857"/>
            </a:avLst>
          </a:prstGeom>
          <a:solidFill>
            <a:srgbClr val="EAE3FF"/>
          </a:solidFill>
          <a:ln w="12700">
            <a:solidFill>
              <a:srgbClr val="EAE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34840" y="4000500"/>
            <a:ext cx="676656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A4DFF"/>
                </a:solidFill>
              </a:rPr>
              <a:t>Later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897880" y="914400"/>
            <a:ext cx="5715000" cy="5349240"/>
          </a:xfrm>
          <a:prstGeom prst="roundRect">
            <a:avLst>
              <a:gd name="adj" fmla="val 3077"/>
            </a:avLst>
          </a:prstGeom>
          <a:solidFill>
            <a:srgbClr val="F9FBFF"/>
          </a:solidFill>
          <a:ln w="12700">
            <a:solidFill>
              <a:srgbClr val="D9E5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1188720"/>
            <a:ext cx="1508760" cy="256032"/>
          </a:xfrm>
          <a:prstGeom prst="roundRect">
            <a:avLst>
              <a:gd name="adj" fmla="val 42857"/>
            </a:avLst>
          </a:prstGeom>
          <a:solidFill>
            <a:srgbClr val="2F6FED"/>
          </a:solidFill>
          <a:ln w="12700">
            <a:solidFill>
              <a:srgbClr val="2F6FE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27648" y="1239012"/>
            <a:ext cx="13258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GIS core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36208" y="2980944"/>
            <a:ext cx="1508760" cy="256032"/>
          </a:xfrm>
          <a:prstGeom prst="roundRect">
            <a:avLst>
              <a:gd name="adj" fmla="val 42857"/>
            </a:avLst>
          </a:prstGeom>
          <a:solidFill>
            <a:srgbClr val="00A3A3"/>
          </a:solidFill>
          <a:ln w="12700">
            <a:solidFill>
              <a:srgbClr val="00A3A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27648" y="3031236"/>
            <a:ext cx="13258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AI lane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36208" y="4754880"/>
            <a:ext cx="1508760" cy="256032"/>
          </a:xfrm>
          <a:prstGeom prst="roundRect">
            <a:avLst>
              <a:gd name="adj" fmla="val 42857"/>
            </a:avLst>
          </a:prstGeom>
          <a:solidFill>
            <a:srgbClr val="7A4DFF"/>
          </a:solidFill>
          <a:ln w="12700">
            <a:solidFill>
              <a:srgbClr val="7A4D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27648" y="4805172"/>
            <a:ext cx="13258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Future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0" y="1572768"/>
            <a:ext cx="1417320" cy="841248"/>
          </a:xfrm>
          <a:prstGeom prst="roundRect">
            <a:avLst>
              <a:gd name="adj" fmla="val 8696"/>
            </a:avLst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47104" y="1682496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Parcels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547104" y="1956816"/>
            <a:ext cx="1124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324D"/>
                </a:solidFill>
              </a:rPr>
              <a:t>Ingestion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7324D"/>
                </a:solidFill>
              </a:rPr>
              <a:t>PostGIS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7324D"/>
                </a:solidFill>
              </a:rPr>
              <a:t>Map API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138160" y="1572768"/>
            <a:ext cx="1325880" cy="841248"/>
          </a:xfrm>
          <a:prstGeom prst="roundRect">
            <a:avLst>
              <a:gd name="adj" fmla="val 8696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4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284464" y="1682496"/>
            <a:ext cx="1051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Zones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284464" y="1956816"/>
            <a:ext cx="1033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324D"/>
                </a:solidFill>
              </a:rPr>
              <a:t>Missing /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7324D"/>
                </a:solidFill>
              </a:rPr>
              <a:t>next domain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9738360" y="1572768"/>
            <a:ext cx="1371600" cy="841248"/>
          </a:xfrm>
          <a:prstGeom prst="roundRect">
            <a:avLst>
              <a:gd name="adj" fmla="val 8696"/>
            </a:avLst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4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884664" y="1682496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Frontend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884664" y="1956816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324D"/>
                </a:solidFill>
              </a:rPr>
              <a:t>MapLibre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7324D"/>
                </a:solidFill>
              </a:rPr>
              <a:t>parcel view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818120" y="1993392"/>
            <a:ext cx="320040" cy="0"/>
          </a:xfrm>
          <a:prstGeom prst="line">
            <a:avLst/>
          </a:prstGeom>
          <a:noFill/>
          <a:ln w="1270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464040" y="1993392"/>
            <a:ext cx="274320" cy="0"/>
          </a:xfrm>
          <a:prstGeom prst="line">
            <a:avLst/>
          </a:prstGeom>
          <a:noFill/>
          <a:ln w="1270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400800" y="3401568"/>
            <a:ext cx="1371600" cy="914400"/>
          </a:xfrm>
          <a:prstGeom prst="roundRect">
            <a:avLst>
              <a:gd name="adj" fmla="val 8000"/>
            </a:avLst>
          </a:prstGeom>
          <a:solidFill>
            <a:srgbClr val="00A3A3"/>
          </a:solidFill>
          <a:ln w="12700">
            <a:solidFill>
              <a:srgbClr val="00A3A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4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547104" y="3511296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Document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547104" y="3785616"/>
            <a:ext cx="1078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324D"/>
                </a:solidFill>
              </a:rPr>
              <a:t>source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7324D"/>
                </a:solidFill>
              </a:rPr>
              <a:t>artifact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8156448" y="3401568"/>
            <a:ext cx="1389888" cy="914400"/>
          </a:xfrm>
          <a:prstGeom prst="roundRect">
            <a:avLst>
              <a:gd name="adj" fmla="val 8000"/>
            </a:avLst>
          </a:prstGeom>
          <a:solidFill>
            <a:srgbClr val="00A3A3"/>
          </a:solidFill>
          <a:ln w="12700">
            <a:solidFill>
              <a:srgbClr val="00A3A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4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8302752" y="3511296"/>
            <a:ext cx="11155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Run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302752" y="37856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324D"/>
                </a:solidFill>
              </a:rPr>
              <a:t>workflow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7324D"/>
                </a:solidFill>
              </a:rPr>
              <a:t>record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9912096" y="3401568"/>
            <a:ext cx="1325880" cy="914400"/>
          </a:xfrm>
          <a:prstGeom prst="roundRect">
            <a:avLst>
              <a:gd name="adj" fmla="val 8000"/>
            </a:avLst>
          </a:prstGeom>
          <a:solidFill>
            <a:srgbClr val="00A3A3"/>
          </a:solidFill>
          <a:ln w="12700">
            <a:solidFill>
              <a:srgbClr val="00A3A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4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10058400" y="3511296"/>
            <a:ext cx="1051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Rule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0058400" y="3785616"/>
            <a:ext cx="1033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324D"/>
                </a:solidFill>
              </a:rPr>
              <a:t>structured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7324D"/>
                </a:solidFill>
              </a:rPr>
              <a:t>output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7772400" y="3858768"/>
            <a:ext cx="384048" cy="0"/>
          </a:xfrm>
          <a:prstGeom prst="line">
            <a:avLst/>
          </a:prstGeom>
          <a:noFill/>
          <a:ln w="12700">
            <a:solidFill>
              <a:srgbClr val="7C8AA5"/>
            </a:solidFill>
            <a:prstDash val="solid"/>
            <a:headEnd type="none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9546336" y="3858768"/>
            <a:ext cx="365760" cy="0"/>
          </a:xfrm>
          <a:prstGeom prst="line">
            <a:avLst/>
          </a:prstGeom>
          <a:noFill/>
          <a:ln w="12700">
            <a:solidFill>
              <a:srgbClr val="7C8AA5"/>
            </a:solidFill>
            <a:prstDash val="solid"/>
            <a:headEnd type="none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6400800" y="5138928"/>
            <a:ext cx="1508760" cy="768096"/>
          </a:xfrm>
          <a:prstGeom prst="roundRect">
            <a:avLst>
              <a:gd name="adj" fmla="val 9524"/>
            </a:avLst>
          </a:prstGeom>
          <a:solidFill>
            <a:srgbClr val="7A4DFF"/>
          </a:solidFill>
          <a:ln w="12700">
            <a:solidFill>
              <a:srgbClr val="7A4DFF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4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547104" y="5248656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Chunking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547104" y="5522976"/>
            <a:ext cx="1216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later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8247888" y="5138928"/>
            <a:ext cx="1691640" cy="768096"/>
          </a:xfrm>
          <a:prstGeom prst="roundRect">
            <a:avLst>
              <a:gd name="adj" fmla="val 9524"/>
            </a:avLst>
          </a:prstGeom>
          <a:solidFill>
            <a:srgbClr val="7A4DFF"/>
          </a:solidFill>
          <a:ln w="12700">
            <a:solidFill>
              <a:srgbClr val="7A4DFF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4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8394192" y="5248656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Prompt versioning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394192" y="5522976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later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10241280" y="5138928"/>
            <a:ext cx="1051560" cy="768096"/>
          </a:xfrm>
          <a:prstGeom prst="roundRect">
            <a:avLst>
              <a:gd name="adj" fmla="val 9524"/>
            </a:avLst>
          </a:prstGeom>
          <a:solidFill>
            <a:srgbClr val="7A4DFF"/>
          </a:solidFill>
          <a:ln w="12700">
            <a:solidFill>
              <a:srgbClr val="7A4DFF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4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10387584" y="5248656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RAG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0387584" y="5522976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later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F8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1828"/>
                </a:solidFill>
              </a:rPr>
              <a:t>Where the AI lane sits in the larger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8961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</a:rPr>
              <a:t>Large system view with the current AI work highlighted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30352" y="1188720"/>
            <a:ext cx="2331720" cy="51663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136392" y="1188720"/>
            <a:ext cx="2606040" cy="51663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16752" y="1188720"/>
            <a:ext cx="2606040" cy="5166360"/>
          </a:xfrm>
          <a:prstGeom prst="roundRect">
            <a:avLst>
              <a:gd name="adj" fmla="val 2807"/>
            </a:avLst>
          </a:prstGeom>
          <a:solidFill>
            <a:srgbClr val="F0FBFA"/>
          </a:solidFill>
          <a:ln w="12700">
            <a:solidFill>
              <a:srgbClr val="6FD2C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897112" y="1188720"/>
            <a:ext cx="2715768" cy="5166360"/>
          </a:xfrm>
          <a:prstGeom prst="roundRect">
            <a:avLst>
              <a:gd name="adj" fmla="val 2694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6112" y="1389888"/>
            <a:ext cx="1508760" cy="256032"/>
          </a:xfrm>
          <a:prstGeom prst="roundRect">
            <a:avLst>
              <a:gd name="adj" fmla="val 42857"/>
            </a:avLst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1440180"/>
            <a:ext cx="13258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Source systems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75888" y="1389888"/>
            <a:ext cx="1508760" cy="256032"/>
          </a:xfrm>
          <a:prstGeom prst="roundRect">
            <a:avLst>
              <a:gd name="adj" fmla="val 42857"/>
            </a:avLst>
          </a:prstGeom>
          <a:solidFill>
            <a:srgbClr val="2F6FED"/>
          </a:solidFill>
          <a:ln w="12700">
            <a:solidFill>
              <a:srgbClr val="2F6FE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67328" y="1440180"/>
            <a:ext cx="13258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Spatial core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537960" y="1389888"/>
            <a:ext cx="1508760" cy="256032"/>
          </a:xfrm>
          <a:prstGeom prst="roundRect">
            <a:avLst>
              <a:gd name="adj" fmla="val 42857"/>
            </a:avLst>
          </a:prstGeom>
          <a:solidFill>
            <a:srgbClr val="00A3A3"/>
          </a:solidFill>
          <a:ln w="12700">
            <a:solidFill>
              <a:srgbClr val="00A3A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29400" y="1440180"/>
            <a:ext cx="13258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AI lane (built now)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454896" y="1389888"/>
            <a:ext cx="1508760" cy="256032"/>
          </a:xfrm>
          <a:prstGeom prst="roundRect">
            <a:avLst>
              <a:gd name="adj" fmla="val 42857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46336" y="1440180"/>
            <a:ext cx="13258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User experience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77240" y="1828800"/>
            <a:ext cx="1783080" cy="777240"/>
          </a:xfrm>
          <a:prstGeom prst="roundRect">
            <a:avLst>
              <a:gd name="adj" fmla="val 9412"/>
            </a:avLst>
          </a:prstGeom>
          <a:solidFill>
            <a:srgbClr val="DCE8FF"/>
          </a:solidFill>
          <a:ln w="12700">
            <a:solidFill>
              <a:srgbClr val="C7D7FE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3544" y="193852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Parcel source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23544" y="2212848"/>
            <a:ext cx="14904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324D"/>
                </a:solidFill>
              </a:rPr>
              <a:t>ArcGIS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7324D"/>
                </a:solidFill>
              </a:rPr>
              <a:t>county data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77240" y="2788920"/>
            <a:ext cx="1783080" cy="777240"/>
          </a:xfrm>
          <a:prstGeom prst="roundRect">
            <a:avLst>
              <a:gd name="adj" fmla="val 9412"/>
            </a:avLst>
          </a:prstGeom>
          <a:solidFill>
            <a:srgbClr val="FFF1D6"/>
          </a:solidFill>
          <a:ln w="12700">
            <a:solidFill>
              <a:srgbClr val="F6C75F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23544" y="289864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Zone docs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23544" y="3172968"/>
            <a:ext cx="14904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324D"/>
                </a:solidFill>
              </a:rPr>
              <a:t>PDFs / code /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7324D"/>
                </a:solidFill>
              </a:rPr>
              <a:t>planning text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77240" y="3749040"/>
            <a:ext cx="1783080" cy="777240"/>
          </a:xfrm>
          <a:prstGeom prst="roundRect">
            <a:avLst>
              <a:gd name="adj" fmla="val 9412"/>
            </a:avLst>
          </a:prstGeom>
          <a:solidFill>
            <a:srgbClr val="EAE3FF"/>
          </a:solidFill>
          <a:ln w="12700">
            <a:solidFill>
              <a:srgbClr val="C6B6FF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4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23544" y="38587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Future docs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23544" y="4133088"/>
            <a:ext cx="14904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324D"/>
                </a:solidFill>
              </a:rPr>
              <a:t>reports / tables /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7324D"/>
                </a:solidFill>
              </a:rPr>
              <a:t>ordinances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419856" y="1828800"/>
            <a:ext cx="1993392" cy="777240"/>
          </a:xfrm>
          <a:prstGeom prst="roundRect">
            <a:avLst>
              <a:gd name="adj" fmla="val 9412"/>
            </a:avLst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4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566160" y="1938528"/>
            <a:ext cx="1719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Ingestion + DB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566160" y="2212848"/>
            <a:ext cx="170078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324D"/>
                </a:solidFill>
              </a:rPr>
              <a:t>parcels in PostGIS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419856" y="2926080"/>
            <a:ext cx="1993392" cy="777240"/>
          </a:xfrm>
          <a:prstGeom prst="roundRect">
            <a:avLst>
              <a:gd name="adj" fmla="val 9412"/>
            </a:avLst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4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566160" y="3035808"/>
            <a:ext cx="1719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Spatial API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3566160" y="3310128"/>
            <a:ext cx="170078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324D"/>
                </a:solidFill>
              </a:rPr>
              <a:t>bbox GeoJSON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7324D"/>
                </a:solidFill>
              </a:rPr>
              <a:t>current map feed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419856" y="4023360"/>
            <a:ext cx="1993392" cy="777240"/>
          </a:xfrm>
          <a:prstGeom prst="roundRect">
            <a:avLst>
              <a:gd name="adj" fmla="val 941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4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566160" y="4133088"/>
            <a:ext cx="1719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Zones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566160" y="4407408"/>
            <a:ext cx="170078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324D"/>
                </a:solidFill>
              </a:rPr>
              <a:t>not built yet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327648" y="1828800"/>
            <a:ext cx="1828800" cy="713232"/>
          </a:xfrm>
          <a:prstGeom prst="roundRect">
            <a:avLst>
              <a:gd name="adj" fmla="val 10256"/>
            </a:avLst>
          </a:prstGeom>
          <a:solidFill>
            <a:srgbClr val="00A3A3"/>
          </a:solidFill>
          <a:ln w="12700">
            <a:solidFill>
              <a:srgbClr val="00A3A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4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473952" y="193852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Document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473952" y="2212848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324D"/>
                </a:solidFill>
              </a:rPr>
              <a:t>registry of source docs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327648" y="2724912"/>
            <a:ext cx="1828800" cy="713232"/>
          </a:xfrm>
          <a:prstGeom prst="roundRect">
            <a:avLst>
              <a:gd name="adj" fmla="val 10256"/>
            </a:avLst>
          </a:prstGeom>
          <a:solidFill>
            <a:srgbClr val="00A3A3"/>
          </a:solidFill>
          <a:ln w="12700">
            <a:solidFill>
              <a:srgbClr val="00A3A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4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473952" y="283464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ExtractionRun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473952" y="3108960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324D"/>
                </a:solidFill>
              </a:rPr>
              <a:t>one AI attempt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327648" y="3621024"/>
            <a:ext cx="1828800" cy="713232"/>
          </a:xfrm>
          <a:prstGeom prst="roundRect">
            <a:avLst>
              <a:gd name="adj" fmla="val 10256"/>
            </a:avLst>
          </a:prstGeom>
          <a:solidFill>
            <a:srgbClr val="00A3A3"/>
          </a:solidFill>
          <a:ln w="12700">
            <a:solidFill>
              <a:srgbClr val="00A3A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4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473952" y="3730752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Ollama service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473952" y="4005072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324D"/>
                </a:solidFill>
              </a:rPr>
              <a:t>local LLM call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6327648" y="4517136"/>
            <a:ext cx="1828800" cy="713232"/>
          </a:xfrm>
          <a:prstGeom prst="roundRect">
            <a:avLst>
              <a:gd name="adj" fmla="val 10256"/>
            </a:avLst>
          </a:prstGeom>
          <a:solidFill>
            <a:srgbClr val="00A3A3"/>
          </a:solidFill>
          <a:ln w="12700">
            <a:solidFill>
              <a:srgbClr val="00A3A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4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6473952" y="4626864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ExtractedRule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473952" y="4901184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324D"/>
                </a:solidFill>
              </a:rPr>
              <a:t>validated result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9171432" y="1828800"/>
            <a:ext cx="2148840" cy="777240"/>
          </a:xfrm>
          <a:prstGeom prst="roundRect">
            <a:avLst>
              <a:gd name="adj" fmla="val 941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4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9317736" y="1938528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Map UI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9317736" y="2212848"/>
            <a:ext cx="18562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324D"/>
                </a:solidFill>
              </a:rPr>
              <a:t>parcel viewer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9171432" y="2926080"/>
            <a:ext cx="2148840" cy="777240"/>
          </a:xfrm>
          <a:prstGeom prst="roundRect">
            <a:avLst>
              <a:gd name="adj" fmla="val 941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4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9317736" y="3035808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Future parcel detail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9317736" y="3310128"/>
            <a:ext cx="18562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324D"/>
                </a:solidFill>
              </a:rPr>
              <a:t>rule summary +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7324D"/>
                </a:solidFill>
              </a:rPr>
              <a:t>citations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9171432" y="4023360"/>
            <a:ext cx="2148840" cy="777240"/>
          </a:xfrm>
          <a:prstGeom prst="roundRect">
            <a:avLst>
              <a:gd name="adj" fmla="val 941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4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9317736" y="4133088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Future search/agent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9317736" y="4407408"/>
            <a:ext cx="18562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324D"/>
                </a:solidFill>
              </a:rPr>
              <a:t>parcel Q&amp;A /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7324D"/>
                </a:solidFill>
              </a:rPr>
              <a:t>lookup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F8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1828"/>
                </a:solidFill>
              </a:rPr>
              <a:t>AI extraction data flow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8961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</a:rPr>
              <a:t>What happens from source text to saved structured rule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1143000" cy="1143000"/>
          </a:xfrm>
          <a:prstGeom prst="roundRect">
            <a:avLst>
              <a:gd name="adj" fmla="val 6400"/>
            </a:avLst>
          </a:prstGeom>
          <a:solidFill>
            <a:srgbClr val="00A3A3"/>
          </a:solidFill>
          <a:ln w="12700">
            <a:solidFill>
              <a:srgbClr val="00A3A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77824" y="2121408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Document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77824" y="2395728"/>
            <a:ext cx="85039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324D"/>
                </a:solidFill>
              </a:rPr>
              <a:t>choose source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7324D"/>
                </a:solidFill>
              </a:rPr>
              <a:t>document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874520" y="2578608"/>
            <a:ext cx="365760" cy="0"/>
          </a:xfrm>
          <a:prstGeom prst="line">
            <a:avLst/>
          </a:prstGeom>
          <a:noFill/>
          <a:ln w="1270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240280" y="2011680"/>
            <a:ext cx="1143000" cy="1143000"/>
          </a:xfrm>
          <a:prstGeom prst="roundRect">
            <a:avLst>
              <a:gd name="adj" fmla="val 6400"/>
            </a:avLst>
          </a:prstGeom>
          <a:solidFill>
            <a:srgbClr val="00A3A3"/>
          </a:solidFill>
          <a:ln w="12700">
            <a:solidFill>
              <a:srgbClr val="00A3A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386584" y="2121408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Input text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386584" y="2395728"/>
            <a:ext cx="85039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324D"/>
                </a:solidFill>
              </a:rPr>
              <a:t>source_text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7324D"/>
                </a:solidFill>
              </a:rPr>
              <a:t>+ page_number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383280" y="2578608"/>
            <a:ext cx="365760" cy="0"/>
          </a:xfrm>
          <a:prstGeom prst="line">
            <a:avLst/>
          </a:prstGeom>
          <a:noFill/>
          <a:ln w="1270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749040" y="2011680"/>
            <a:ext cx="1143000" cy="1143000"/>
          </a:xfrm>
          <a:prstGeom prst="roundRect">
            <a:avLst>
              <a:gd name="adj" fmla="val 6400"/>
            </a:avLst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895344" y="2121408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Run record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895344" y="2395728"/>
            <a:ext cx="85039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324D"/>
                </a:solidFill>
              </a:rPr>
              <a:t>create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7324D"/>
                </a:solidFill>
              </a:rPr>
              <a:t>ExtractionRun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892040" y="2578608"/>
            <a:ext cx="365760" cy="0"/>
          </a:xfrm>
          <a:prstGeom prst="line">
            <a:avLst/>
          </a:prstGeom>
          <a:noFill/>
          <a:ln w="1270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257800" y="2011680"/>
            <a:ext cx="1143000" cy="1143000"/>
          </a:xfrm>
          <a:prstGeom prst="roundRect">
            <a:avLst>
              <a:gd name="adj" fmla="val 6400"/>
            </a:avLst>
          </a:prstGeom>
          <a:solidFill>
            <a:srgbClr val="7A4DFF"/>
          </a:solidFill>
          <a:ln w="12700">
            <a:solidFill>
              <a:srgbClr val="7A4DFF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04104" y="2121408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Ollama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04104" y="2395728"/>
            <a:ext cx="85039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324D"/>
                </a:solidFill>
              </a:rPr>
              <a:t>prompt local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7324D"/>
                </a:solidFill>
              </a:rPr>
              <a:t>LLM for JSON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0" y="2578608"/>
            <a:ext cx="365760" cy="0"/>
          </a:xfrm>
          <a:prstGeom prst="line">
            <a:avLst/>
          </a:prstGeom>
          <a:noFill/>
          <a:ln w="1270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6446520" y="2414016"/>
            <a:ext cx="274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8A2B3"/>
                </a:solidFill>
              </a:rPr>
              <a:t>JSON text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766560" y="2011680"/>
            <a:ext cx="1143000" cy="1143000"/>
          </a:xfrm>
          <a:prstGeom prst="roundRect">
            <a:avLst>
              <a:gd name="adj" fmla="val 64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4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912864" y="2121408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Raw output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12864" y="2395728"/>
            <a:ext cx="85039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324D"/>
                </a:solidFill>
              </a:rPr>
              <a:t>save raw model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7324D"/>
                </a:solidFill>
              </a:rPr>
              <a:t>text on run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909560" y="2578608"/>
            <a:ext cx="365760" cy="0"/>
          </a:xfrm>
          <a:prstGeom prst="line">
            <a:avLst/>
          </a:prstGeom>
          <a:noFill/>
          <a:ln w="1270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275320" y="2011680"/>
            <a:ext cx="1143000" cy="1143000"/>
          </a:xfrm>
          <a:prstGeom prst="roundRect">
            <a:avLst>
              <a:gd name="adj" fmla="val 6400"/>
            </a:avLst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4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421624" y="2121408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Normalize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421624" y="2395728"/>
            <a:ext cx="85039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324D"/>
                </a:solidFill>
              </a:rPr>
              <a:t>parse + validate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7324D"/>
                </a:solidFill>
              </a:rPr>
              <a:t>rule fields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9418320" y="2578608"/>
            <a:ext cx="365760" cy="0"/>
          </a:xfrm>
          <a:prstGeom prst="line">
            <a:avLst/>
          </a:prstGeom>
          <a:noFill/>
          <a:ln w="1270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784080" y="2011680"/>
            <a:ext cx="1143000" cy="1143000"/>
          </a:xfrm>
          <a:prstGeom prst="roundRect">
            <a:avLst>
              <a:gd name="adj" fmla="val 6400"/>
            </a:avLst>
          </a:prstGeom>
          <a:solidFill>
            <a:srgbClr val="1F9D55"/>
          </a:solidFill>
          <a:ln w="12700">
            <a:solidFill>
              <a:srgbClr val="1F9D55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4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9930384" y="2121408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Rule row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930384" y="2395728"/>
            <a:ext cx="85039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324D"/>
                </a:solidFill>
              </a:rPr>
              <a:t>create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7324D"/>
                </a:solidFill>
              </a:rPr>
              <a:t>ExtractedRule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960120" y="4389120"/>
            <a:ext cx="1508760" cy="256032"/>
          </a:xfrm>
          <a:prstGeom prst="roundRect">
            <a:avLst>
              <a:gd name="adj" fmla="val 42857"/>
            </a:avLst>
          </a:prstGeom>
          <a:solidFill>
            <a:srgbClr val="2F6FED"/>
          </a:solidFill>
          <a:ln w="12700">
            <a:solidFill>
              <a:srgbClr val="2F6FED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51560" y="4439412"/>
            <a:ext cx="13258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What is deterministic?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960120" y="4773168"/>
            <a:ext cx="1554480" cy="256032"/>
          </a:xfrm>
          <a:prstGeom prst="roundRect">
            <a:avLst>
              <a:gd name="adj" fmla="val 42857"/>
            </a:avLst>
          </a:prstGeom>
          <a:solidFill>
            <a:srgbClr val="DCE8FF"/>
          </a:solidFill>
          <a:ln w="12700">
            <a:solidFill>
              <a:srgbClr val="DCE8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33272" y="4823460"/>
            <a:ext cx="1408176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324D"/>
                </a:solidFill>
              </a:rPr>
              <a:t>Document lookup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651760" y="4773168"/>
            <a:ext cx="1783080" cy="256032"/>
          </a:xfrm>
          <a:prstGeom prst="roundRect">
            <a:avLst>
              <a:gd name="adj" fmla="val 42857"/>
            </a:avLst>
          </a:prstGeom>
          <a:solidFill>
            <a:srgbClr val="DCE8FF"/>
          </a:solidFill>
          <a:ln w="12700">
            <a:solidFill>
              <a:srgbClr val="DCE8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24912" y="4823460"/>
            <a:ext cx="1636776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324D"/>
                </a:solidFill>
              </a:rPr>
              <a:t>Run creation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572000" y="4773168"/>
            <a:ext cx="1965960" cy="256032"/>
          </a:xfrm>
          <a:prstGeom prst="roundRect">
            <a:avLst>
              <a:gd name="adj" fmla="val 42857"/>
            </a:avLst>
          </a:prstGeom>
          <a:solidFill>
            <a:srgbClr val="DCE8FF"/>
          </a:solidFill>
          <a:ln w="12700">
            <a:solidFill>
              <a:srgbClr val="DCE8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45152" y="4823460"/>
            <a:ext cx="1819656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324D"/>
                </a:solidFill>
              </a:rPr>
              <a:t>Validation + normalization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693408" y="4773168"/>
            <a:ext cx="1463040" cy="256032"/>
          </a:xfrm>
          <a:prstGeom prst="roundRect">
            <a:avLst>
              <a:gd name="adj" fmla="val 42857"/>
            </a:avLst>
          </a:prstGeom>
          <a:solidFill>
            <a:srgbClr val="DCE8FF"/>
          </a:solidFill>
          <a:ln w="12700">
            <a:solidFill>
              <a:srgbClr val="DCE8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766560" y="4823460"/>
            <a:ext cx="1316736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324D"/>
                </a:solidFill>
              </a:rPr>
              <a:t>DB writes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8641080" y="4389120"/>
            <a:ext cx="1508760" cy="256032"/>
          </a:xfrm>
          <a:prstGeom prst="roundRect">
            <a:avLst>
              <a:gd name="adj" fmla="val 42857"/>
            </a:avLst>
          </a:prstGeom>
          <a:solidFill>
            <a:srgbClr val="00A3A3"/>
          </a:solidFill>
          <a:ln w="12700">
            <a:solidFill>
              <a:srgbClr val="00A3A3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732520" y="4439412"/>
            <a:ext cx="13258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What is probabilistic?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8705088" y="4773168"/>
            <a:ext cx="1691640" cy="256032"/>
          </a:xfrm>
          <a:prstGeom prst="roundRect">
            <a:avLst>
              <a:gd name="adj" fmla="val 42857"/>
            </a:avLst>
          </a:prstGeom>
          <a:solidFill>
            <a:srgbClr val="D9F5F2"/>
          </a:solidFill>
          <a:ln w="12700">
            <a:solidFill>
              <a:srgbClr val="D9F5F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778240" y="4823460"/>
            <a:ext cx="1545336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A3A3"/>
                </a:solidFill>
              </a:rPr>
              <a:t>LLM response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10469880" y="4773168"/>
            <a:ext cx="548640" cy="256032"/>
          </a:xfrm>
          <a:prstGeom prst="roundRect">
            <a:avLst>
              <a:gd name="adj" fmla="val 42857"/>
            </a:avLst>
          </a:prstGeom>
          <a:solidFill>
            <a:srgbClr val="D9F5F2"/>
          </a:solidFill>
          <a:ln w="12700">
            <a:solidFill>
              <a:srgbClr val="D9F5F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543032" y="4823460"/>
            <a:ext cx="402336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A3A3"/>
                </a:solidFill>
              </a:rPr>
              <a:t>text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F8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1828"/>
                </a:solidFill>
              </a:rPr>
              <a:t>AI data model relationships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8961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</a:rPr>
              <a:t>How the new AI tables connect to the existing GIS platform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423160" y="2103120"/>
            <a:ext cx="1234440" cy="0"/>
          </a:xfrm>
          <a:prstGeom prst="line">
            <a:avLst/>
          </a:prstGeom>
          <a:noFill/>
          <a:ln w="1270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5" name="Text 3"/>
          <p:cNvSpPr/>
          <p:nvPr/>
        </p:nvSpPr>
        <p:spPr>
          <a:xfrm>
            <a:off x="2468880" y="1938528"/>
            <a:ext cx="11430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8A2B3"/>
                </a:solidFill>
              </a:rPr>
              <a:t>FK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423160" y="4069080"/>
            <a:ext cx="1234440" cy="0"/>
          </a:xfrm>
          <a:prstGeom prst="line">
            <a:avLst/>
          </a:prstGeom>
          <a:noFill/>
          <a:ln w="1270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2468880" y="3904488"/>
            <a:ext cx="11430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8A2B3"/>
                </a:solidFill>
              </a:rPr>
              <a:t>FK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623560" y="2103120"/>
            <a:ext cx="1371600" cy="0"/>
          </a:xfrm>
          <a:prstGeom prst="line">
            <a:avLst/>
          </a:prstGeom>
          <a:noFill/>
          <a:ln w="1270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5669280" y="1938528"/>
            <a:ext cx="12801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8A2B3"/>
                </a:solidFill>
              </a:rPr>
              <a:t>1 document → many runs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623560" y="4069080"/>
            <a:ext cx="1371600" cy="0"/>
          </a:xfrm>
          <a:prstGeom prst="line">
            <a:avLst/>
          </a:prstGeom>
          <a:noFill/>
          <a:ln w="1270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5669280" y="3904488"/>
            <a:ext cx="12801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8A2B3"/>
                </a:solidFill>
              </a:rPr>
              <a:t>1 document → many rules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961120" y="2880360"/>
            <a:ext cx="1234440" cy="0"/>
          </a:xfrm>
          <a:prstGeom prst="line">
            <a:avLst/>
          </a:prstGeom>
          <a:noFill/>
          <a:ln w="1270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9006840" y="2715768"/>
            <a:ext cx="11430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8A2B3"/>
                </a:solidFill>
              </a:rPr>
              <a:t>1 run → many rules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961120" y="4983480"/>
            <a:ext cx="1234440" cy="0"/>
          </a:xfrm>
          <a:prstGeom prst="line">
            <a:avLst/>
          </a:prstGeom>
          <a:noFill/>
          <a:ln w="12700">
            <a:solidFill>
              <a:srgbClr val="98A2B3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9006840" y="4818888"/>
            <a:ext cx="11430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8A2B3"/>
                </a:solidFill>
              </a:rPr>
              <a:t>future parcel explanation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77240" y="141732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3544" y="1527048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Jurisdiction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23544" y="1801368"/>
            <a:ext cx="11704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324D"/>
                </a:solidFill>
              </a:rPr>
              <a:t>Fremont etc.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77240" y="338328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23544" y="3493008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Source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23544" y="3767328"/>
            <a:ext cx="11704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324D"/>
                </a:solidFill>
              </a:rPr>
              <a:t>parcel source /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7324D"/>
                </a:solidFill>
              </a:rPr>
              <a:t>doc source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657600" y="1417320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00A3A3"/>
          </a:solidFill>
          <a:ln w="12700">
            <a:solidFill>
              <a:srgbClr val="00A3A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4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803904" y="152704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Document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803904" y="1801368"/>
            <a:ext cx="1490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324D"/>
                </a:solidFill>
              </a:rPr>
              <a:t>title, type,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7324D"/>
                </a:solidFill>
              </a:rPr>
              <a:t>url/file path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657600" y="3383280"/>
            <a:ext cx="1783080" cy="1371600"/>
          </a:xfrm>
          <a:prstGeom prst="roundRect">
            <a:avLst>
              <a:gd name="adj" fmla="val 5333"/>
            </a:avLst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4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803904" y="349300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Parcel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803904" y="3767328"/>
            <a:ext cx="149047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324D"/>
                </a:solidFill>
              </a:rPr>
              <a:t>deterministic GIS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7324D"/>
                </a:solidFill>
              </a:rPr>
              <a:t>source truth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995160" y="1417320"/>
            <a:ext cx="1783080" cy="1097280"/>
          </a:xfrm>
          <a:prstGeom prst="roundRect">
            <a:avLst>
              <a:gd name="adj" fmla="val 6667"/>
            </a:avLst>
          </a:prstGeom>
          <a:solidFill>
            <a:srgbClr val="00A3A3"/>
          </a:solidFill>
          <a:ln w="12700">
            <a:solidFill>
              <a:srgbClr val="00A3A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4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141464" y="152704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ExtractionRun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141464" y="1801368"/>
            <a:ext cx="14904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324D"/>
                </a:solidFill>
              </a:rPr>
              <a:t>extractor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7324D"/>
                </a:solidFill>
              </a:rPr>
              <a:t>model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7324D"/>
                </a:solidFill>
              </a:rPr>
              <a:t>status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7324D"/>
                </a:solidFill>
              </a:rPr>
              <a:t>raw output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995160" y="3520440"/>
            <a:ext cx="1783080" cy="1097280"/>
          </a:xfrm>
          <a:prstGeom prst="roundRect">
            <a:avLst>
              <a:gd name="adj" fmla="val 6667"/>
            </a:avLst>
          </a:prstGeom>
          <a:solidFill>
            <a:srgbClr val="00A3A3"/>
          </a:solidFill>
          <a:ln w="12700">
            <a:solidFill>
              <a:srgbClr val="00A3A3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4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141464" y="36301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Future parcel insight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141464" y="3904488"/>
            <a:ext cx="14904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324D"/>
                </a:solidFill>
              </a:rPr>
              <a:t>AI summary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7324D"/>
                </a:solidFill>
              </a:rPr>
              <a:t>for a parcel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0195560" y="2331720"/>
            <a:ext cx="1417320" cy="1097280"/>
          </a:xfrm>
          <a:prstGeom prst="roundRect">
            <a:avLst>
              <a:gd name="adj" fmla="val 6667"/>
            </a:avLst>
          </a:prstGeom>
          <a:solidFill>
            <a:srgbClr val="1F9D55"/>
          </a:solidFill>
          <a:ln w="12700">
            <a:solidFill>
              <a:srgbClr val="1F9D55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4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10341864" y="2441448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ExtractedRule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0341864" y="2715768"/>
            <a:ext cx="1124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324D"/>
                </a:solidFill>
              </a:rPr>
              <a:t>rule_type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7324D"/>
                </a:solidFill>
              </a:rPr>
              <a:t>value_text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7324D"/>
                </a:solidFill>
              </a:rPr>
              <a:t>unit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7324D"/>
                </a:solidFill>
              </a:rPr>
              <a:t>citation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10195560" y="4526280"/>
            <a:ext cx="1417320" cy="868680"/>
          </a:xfrm>
          <a:prstGeom prst="roundRect">
            <a:avLst>
              <a:gd name="adj" fmla="val 8421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4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10341864" y="4636008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Frontend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0341864" y="4910328"/>
            <a:ext cx="112471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324D"/>
                </a:solidFill>
              </a:rPr>
              <a:t>future detail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7324D"/>
                </a:solidFill>
              </a:rPr>
              <a:t>panel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777240" y="5596128"/>
            <a:ext cx="539496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60120" y="5742432"/>
            <a:ext cx="1417320" cy="256032"/>
          </a:xfrm>
          <a:prstGeom prst="roundRect">
            <a:avLst>
              <a:gd name="adj" fmla="val 42857"/>
            </a:avLst>
          </a:prstGeom>
          <a:solidFill>
            <a:srgbClr val="DCE8FF"/>
          </a:solidFill>
          <a:ln w="12700">
            <a:solidFill>
              <a:srgbClr val="DCE8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33272" y="5792724"/>
            <a:ext cx="1271016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324D"/>
                </a:solidFill>
              </a:rPr>
              <a:t>Existing GIS core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2514600" y="5742432"/>
            <a:ext cx="1783080" cy="256032"/>
          </a:xfrm>
          <a:prstGeom prst="roundRect">
            <a:avLst>
              <a:gd name="adj" fmla="val 42857"/>
            </a:avLst>
          </a:prstGeom>
          <a:solidFill>
            <a:srgbClr val="D9F5F2"/>
          </a:solidFill>
          <a:ln w="12700">
            <a:solidFill>
              <a:srgbClr val="D9F5F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587752" y="5792724"/>
            <a:ext cx="1636776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A3A3"/>
                </a:solidFill>
              </a:rPr>
              <a:t>New AI lane tables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462272" y="5742432"/>
            <a:ext cx="1417320" cy="256032"/>
          </a:xfrm>
          <a:prstGeom prst="roundRect">
            <a:avLst>
              <a:gd name="adj" fmla="val 42857"/>
            </a:avLst>
          </a:prstGeom>
          <a:solidFill>
            <a:srgbClr val="FFF1D6"/>
          </a:solidFill>
          <a:ln w="12700">
            <a:solidFill>
              <a:srgbClr val="FFF1D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35424" y="5792724"/>
            <a:ext cx="1271016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</a:rPr>
              <a:t>Future connection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36576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F8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parcel-map AI architecture diagrams</dc:title>
  <dc:subject>Parcel Map AI Architecture Diagrams</dc:subject>
  <dc:creator>OpenAI</dc:creator>
  <cp:lastModifiedBy>OpenAI</cp:lastModifiedBy>
  <cp:revision>1</cp:revision>
  <dcterms:created xsi:type="dcterms:W3CDTF">2026-03-10T19:54:02Z</dcterms:created>
  <dcterms:modified xsi:type="dcterms:W3CDTF">2026-03-10T19:54:02Z</dcterms:modified>
</cp:coreProperties>
</file>